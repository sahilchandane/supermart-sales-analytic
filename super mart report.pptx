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3"/>
  </p:notesMasterIdLst>
  <p:sldIdLst>
    <p:sldId id="278" r:id="rId5"/>
    <p:sldId id="279" r:id="rId6"/>
    <p:sldId id="280" r:id="rId7"/>
    <p:sldId id="281" r:id="rId8"/>
    <p:sldId id="282" r:id="rId9"/>
    <p:sldId id="283" r:id="rId10"/>
    <p:sldId id="284" r:id="rId11"/>
    <p:sldId id="28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4EA8A2-8C6B-46F9-AA44-169E959DA72E}" v="5" dt="2026-06-18T14:22:31.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6/23/2026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6/23/2026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6/23/2026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6/23/2026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6/23/2026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6/23/2026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400" b="1" dirty="0">
                <a:latin typeface="Times New Roman" panose="02020603050405020304" pitchFamily="18" charset="0"/>
                <a:cs typeface="Times New Roman" panose="02020603050405020304" pitchFamily="18" charset="0"/>
              </a:rPr>
              <a:t>Super Mart Sales Report </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291994" y="4094028"/>
            <a:ext cx="3485072" cy="1026544"/>
          </a:xfrm>
        </p:spPr>
        <p:txBody>
          <a:bodyPr>
            <a:normAutofit/>
          </a:bodyPr>
          <a:lstStyle/>
          <a:p>
            <a:pPr algn="l"/>
            <a:endParaRPr lang="en-US" dirty="0"/>
          </a:p>
          <a:p>
            <a:pPr algn="l"/>
            <a:r>
              <a:rPr lang="en-US" sz="2300" dirty="0">
                <a:latin typeface="Times New Roman" panose="02020603050405020304" pitchFamily="18" charset="0"/>
                <a:cs typeface="Times New Roman" panose="02020603050405020304" pitchFamily="18" charset="0"/>
              </a:rPr>
              <a:t>By Sahil Chandane</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705600" y="132080"/>
            <a:ext cx="4733017" cy="594530"/>
          </a:xfrm>
        </p:spPr>
        <p:txBody>
          <a:bodyPr anchor="b">
            <a:normAutofit fontScale="90000"/>
          </a:bodyPr>
          <a:lstStyle/>
          <a:p>
            <a:pPr algn="l"/>
            <a:r>
              <a:rPr lang="en-US" sz="4000" dirty="0"/>
              <a:t>	</a:t>
            </a:r>
            <a:r>
              <a:rPr lang="en-US" sz="4400" dirty="0">
                <a:latin typeface="Times New Roman" panose="02020603050405020304" pitchFamily="18" charset="0"/>
                <a:cs typeface="Times New Roman" panose="02020603050405020304" pitchFamily="18" charset="0"/>
              </a:rPr>
              <a:t>Business Objective</a:t>
            </a:r>
            <a:endParaRPr lang="en-US" sz="4000" dirty="0">
              <a:latin typeface="Times New Roman" panose="02020603050405020304" pitchFamily="18" charset="0"/>
              <a:cs typeface="Times New Roman" panose="02020603050405020304" pitchFamily="18" charset="0"/>
            </a:endParaRP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67757" y="858688"/>
            <a:ext cx="4403596" cy="5765631"/>
          </a:xfrm>
        </p:spPr>
        <p:txBody>
          <a:bodyPr anchor="t">
            <a:normAutofit fontScale="92500" lnSpcReduction="10000"/>
          </a:bodyPr>
          <a:lstStyle/>
          <a:p>
            <a:pPr marL="36900" lvl="0" indent="0" algn="just">
              <a:buNone/>
            </a:pPr>
            <a:r>
              <a:rPr lang="en-US" sz="2000" dirty="0">
                <a:latin typeface="Times New Roman" panose="02020603050405020304" pitchFamily="18" charset="0"/>
                <a:cs typeface="Times New Roman" panose="02020603050405020304" pitchFamily="18" charset="0"/>
              </a:rPr>
              <a:t>The objective of this project is to analyze sales performance across regions, categories, customer segments, payment modes, shipping methods, and product subcategories to identify revenue drivers and improve business profitability.</a:t>
            </a:r>
          </a:p>
          <a:p>
            <a:pPr marL="36900" lvl="0" indent="0" algn="just">
              <a:buNone/>
            </a:pPr>
            <a:endParaRPr lang="en-US" sz="2000" dirty="0">
              <a:latin typeface="Times New Roman" panose="02020603050405020304" pitchFamily="18" charset="0"/>
              <a:cs typeface="Times New Roman" panose="02020603050405020304" pitchFamily="18" charset="0"/>
            </a:endParaRPr>
          </a:p>
          <a:p>
            <a:pPr marL="36900" indent="0">
              <a:buNone/>
            </a:pPr>
            <a:r>
              <a:rPr lang="en-US" sz="2000" b="1" dirty="0">
                <a:latin typeface="Times New Roman" panose="02020603050405020304" pitchFamily="18" charset="0"/>
                <a:cs typeface="Times New Roman" panose="02020603050405020304" pitchFamily="18" charset="0"/>
              </a:rPr>
              <a:t>Key Business Questions</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Which products generate maximum revenue? </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Which regions contribute most to sales? </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Which customer segments drive business growth? </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Which shipping methods are most preferred? </a:t>
            </a:r>
          </a:p>
          <a:p>
            <a:pPr>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How can profitability be improved?</a:t>
            </a:r>
          </a:p>
          <a:p>
            <a:pPr marL="36900" lvl="0" indent="0" algn="just">
              <a:buNone/>
            </a:pPr>
            <a:endParaRPr lang="en-US" sz="20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3F391-BA68-5423-07BD-EA29CFAD7F61}"/>
              </a:ext>
            </a:extLst>
          </p:cNvPr>
          <p:cNvSpPr>
            <a:spLocks noGrp="1"/>
          </p:cNvSpPr>
          <p:nvPr>
            <p:ph type="title"/>
          </p:nvPr>
        </p:nvSpPr>
        <p:spPr>
          <a:xfrm>
            <a:off x="1386841" y="427573"/>
            <a:ext cx="9590550" cy="748453"/>
          </a:xfrm>
        </p:spPr>
        <p:txBody>
          <a:bodyPr/>
          <a:lstStyle/>
          <a:p>
            <a:r>
              <a:rPr lang="en-US" dirty="0"/>
              <a:t>Dataset Overview</a:t>
            </a:r>
          </a:p>
        </p:txBody>
      </p:sp>
      <p:sp>
        <p:nvSpPr>
          <p:cNvPr id="3" name="Text Placeholder 2">
            <a:extLst>
              <a:ext uri="{FF2B5EF4-FFF2-40B4-BE49-F238E27FC236}">
                <a16:creationId xmlns:a16="http://schemas.microsoft.com/office/drawing/2014/main" id="{1FAB27CD-66C3-D8CF-5F36-EF48471E31D5}"/>
              </a:ext>
            </a:extLst>
          </p:cNvPr>
          <p:cNvSpPr>
            <a:spLocks noGrp="1"/>
          </p:cNvSpPr>
          <p:nvPr>
            <p:ph type="body" idx="1"/>
          </p:nvPr>
        </p:nvSpPr>
        <p:spPr>
          <a:xfrm>
            <a:off x="1036320" y="1259840"/>
            <a:ext cx="10312400" cy="5069840"/>
          </a:xfrm>
        </p:spPr>
        <p:txBody>
          <a:bodyPr>
            <a:normAutofit/>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Retail supermarket transaction data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Covers sales profit quantity, customers and products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Analysis Period: 2019–2020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Multiple states across the United States</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Includes customer, product and regional information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Key Fields</a:t>
            </a:r>
          </a:p>
          <a:p>
            <a:pPr algn="just"/>
            <a:r>
              <a:rPr lang="en-US" dirty="0">
                <a:latin typeface="Times New Roman" panose="02020603050405020304" pitchFamily="18" charset="0"/>
                <a:cs typeface="Times New Roman" panose="02020603050405020304" pitchFamily="18" charset="0"/>
              </a:rPr>
              <a:t>Order ID ,Sales ,Profit ,Quantity ,State ,Region ,Category ,Sub-Category ,Segment ,Payment mode ,Ship Mode ,Order Date.</a:t>
            </a:r>
          </a:p>
          <a:p>
            <a:pPr algn="l"/>
            <a:endParaRPr lang="en-US" dirty="0"/>
          </a:p>
        </p:txBody>
      </p:sp>
    </p:spTree>
    <p:extLst>
      <p:ext uri="{BB962C8B-B14F-4D97-AF65-F5344CB8AC3E}">
        <p14:creationId xmlns:p14="http://schemas.microsoft.com/office/powerpoint/2010/main" val="180989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7951B-8665-EDEA-D64E-86613CEA367B}"/>
              </a:ext>
            </a:extLst>
          </p:cNvPr>
          <p:cNvSpPr>
            <a:spLocks noGrp="1"/>
          </p:cNvSpPr>
          <p:nvPr>
            <p:ph type="title"/>
          </p:nvPr>
        </p:nvSpPr>
        <p:spPr>
          <a:xfrm>
            <a:off x="1295401" y="186267"/>
            <a:ext cx="9590550" cy="945847"/>
          </a:xfrm>
        </p:spPr>
        <p:txBody>
          <a:bodyPr>
            <a:normAutofit/>
          </a:bodyPr>
          <a:lstStyle/>
          <a:p>
            <a:r>
              <a:rPr lang="en-US" sz="4400" b="1" dirty="0"/>
              <a:t>KPI Overview</a:t>
            </a:r>
          </a:p>
        </p:txBody>
      </p:sp>
      <p:sp>
        <p:nvSpPr>
          <p:cNvPr id="3" name="Text Placeholder 2">
            <a:extLst>
              <a:ext uri="{FF2B5EF4-FFF2-40B4-BE49-F238E27FC236}">
                <a16:creationId xmlns:a16="http://schemas.microsoft.com/office/drawing/2014/main" id="{76ED9F16-3A26-4A43-3ABD-A16EBCB7E1B4}"/>
              </a:ext>
            </a:extLst>
          </p:cNvPr>
          <p:cNvSpPr>
            <a:spLocks noGrp="1"/>
          </p:cNvSpPr>
          <p:nvPr>
            <p:ph type="body" idx="1"/>
          </p:nvPr>
        </p:nvSpPr>
        <p:spPr>
          <a:xfrm>
            <a:off x="944880" y="1361440"/>
            <a:ext cx="9941071" cy="5310293"/>
          </a:xfrm>
        </p:spPr>
        <p:txBody>
          <a:bodyPr/>
          <a:lstStyle/>
          <a:p>
            <a:pPr marL="342900" indent="-342900" algn="l">
              <a:buFont typeface="Arial" panose="020B0604020202020204" pitchFamily="34" charset="0"/>
              <a:buChar char="•"/>
            </a:pPr>
            <a:endParaRPr lang="en-US" dirty="0"/>
          </a:p>
        </p:txBody>
      </p:sp>
      <p:graphicFrame>
        <p:nvGraphicFramePr>
          <p:cNvPr id="4" name="Table 3">
            <a:extLst>
              <a:ext uri="{FF2B5EF4-FFF2-40B4-BE49-F238E27FC236}">
                <a16:creationId xmlns:a16="http://schemas.microsoft.com/office/drawing/2014/main" id="{DB5EC9C6-D973-B13A-82DA-C43164600D04}"/>
              </a:ext>
            </a:extLst>
          </p:cNvPr>
          <p:cNvGraphicFramePr>
            <a:graphicFrameLocks noGrp="1"/>
          </p:cNvGraphicFramePr>
          <p:nvPr>
            <p:extLst>
              <p:ext uri="{D42A27DB-BD31-4B8C-83A1-F6EECF244321}">
                <p14:modId xmlns:p14="http://schemas.microsoft.com/office/powerpoint/2010/main" val="2493667122"/>
              </p:ext>
            </p:extLst>
          </p:nvPr>
        </p:nvGraphicFramePr>
        <p:xfrm>
          <a:off x="944880" y="1088571"/>
          <a:ext cx="9941070" cy="5583160"/>
        </p:xfrm>
        <a:graphic>
          <a:graphicData uri="http://schemas.openxmlformats.org/drawingml/2006/table">
            <a:tbl>
              <a:tblPr firstRow="1" bandRow="1">
                <a:tableStyleId>{073A0DAA-6AF3-43AB-8588-CEC1D06C72B9}</a:tableStyleId>
              </a:tblPr>
              <a:tblGrid>
                <a:gridCol w="4976949">
                  <a:extLst>
                    <a:ext uri="{9D8B030D-6E8A-4147-A177-3AD203B41FA5}">
                      <a16:colId xmlns:a16="http://schemas.microsoft.com/office/drawing/2014/main" val="3831716049"/>
                    </a:ext>
                  </a:extLst>
                </a:gridCol>
                <a:gridCol w="4964121">
                  <a:extLst>
                    <a:ext uri="{9D8B030D-6E8A-4147-A177-3AD203B41FA5}">
                      <a16:colId xmlns:a16="http://schemas.microsoft.com/office/drawing/2014/main" val="1612361919"/>
                    </a:ext>
                  </a:extLst>
                </a:gridCol>
              </a:tblGrid>
              <a:tr h="923148">
                <a:tc>
                  <a:txBody>
                    <a:bodyPr/>
                    <a:lstStyle/>
                    <a:p>
                      <a:r>
                        <a:rPr lang="en-US" dirty="0">
                          <a:latin typeface="Times New Roman" panose="02020603050405020304" pitchFamily="18" charset="0"/>
                          <a:cs typeface="Times New Roman" panose="02020603050405020304" pitchFamily="18" charset="0"/>
                        </a:rPr>
                        <a:t>Key</a:t>
                      </a:r>
                    </a:p>
                  </a:txBody>
                  <a:tcPr/>
                </a:tc>
                <a:tc>
                  <a:txBody>
                    <a:bodyPr/>
                    <a:lstStyle/>
                    <a:p>
                      <a:r>
                        <a:rPr lang="en-US" dirty="0">
                          <a:latin typeface="Times New Roman" panose="02020603050405020304" pitchFamily="18" charset="0"/>
                          <a:cs typeface="Times New Roman" panose="02020603050405020304" pitchFamily="18" charset="0"/>
                        </a:rPr>
                        <a:t>Values</a:t>
                      </a:r>
                    </a:p>
                  </a:txBody>
                  <a:tcPr/>
                </a:tc>
                <a:extLst>
                  <a:ext uri="{0D108BD9-81ED-4DB2-BD59-A6C34878D82A}">
                    <a16:rowId xmlns:a16="http://schemas.microsoft.com/office/drawing/2014/main" val="3213123702"/>
                  </a:ext>
                </a:extLst>
              </a:tr>
              <a:tr h="665716">
                <a:tc>
                  <a:txBody>
                    <a:bodyPr/>
                    <a:lstStyle/>
                    <a:p>
                      <a:r>
                        <a:rPr lang="en-US" dirty="0">
                          <a:latin typeface="Times New Roman" panose="02020603050405020304" pitchFamily="18" charset="0"/>
                          <a:cs typeface="Times New Roman" panose="02020603050405020304" pitchFamily="18" charset="0"/>
                        </a:rPr>
                        <a:t>No of year</a:t>
                      </a:r>
                    </a:p>
                  </a:txBody>
                  <a:tcPr/>
                </a:tc>
                <a:tc>
                  <a:txBody>
                    <a:bodyPr/>
                    <a:lstStyle/>
                    <a:p>
                      <a:r>
                        <a:rPr lang="en-US" dirty="0">
                          <a:latin typeface="Times New Roman" panose="02020603050405020304" pitchFamily="18" charset="0"/>
                          <a:cs typeface="Times New Roman" panose="02020603050405020304" pitchFamily="18" charset="0"/>
                        </a:rPr>
                        <a:t>2019,2020</a:t>
                      </a:r>
                    </a:p>
                  </a:txBody>
                  <a:tcPr/>
                </a:tc>
                <a:extLst>
                  <a:ext uri="{0D108BD9-81ED-4DB2-BD59-A6C34878D82A}">
                    <a16:rowId xmlns:a16="http://schemas.microsoft.com/office/drawing/2014/main" val="3047990555"/>
                  </a:ext>
                </a:extLst>
              </a:tr>
              <a:tr h="665716">
                <a:tc>
                  <a:txBody>
                    <a:bodyPr/>
                    <a:lstStyle/>
                    <a:p>
                      <a:r>
                        <a:rPr lang="en-US" dirty="0">
                          <a:latin typeface="Times New Roman" panose="02020603050405020304" pitchFamily="18" charset="0"/>
                          <a:cs typeface="Times New Roman" panose="02020603050405020304" pitchFamily="18" charset="0"/>
                        </a:rPr>
                        <a:t>Total Sales</a:t>
                      </a:r>
                    </a:p>
                  </a:txBody>
                  <a:tcPr/>
                </a:tc>
                <a:tc>
                  <a:txBody>
                    <a:bodyPr/>
                    <a:lstStyle/>
                    <a:p>
                      <a:r>
                        <a:rPr lang="en-US" dirty="0">
                          <a:latin typeface="Times New Roman" panose="02020603050405020304" pitchFamily="18" charset="0"/>
                          <a:cs typeface="Times New Roman" panose="02020603050405020304" pitchFamily="18" charset="0"/>
                        </a:rPr>
                        <a:t>1.57M</a:t>
                      </a:r>
                    </a:p>
                  </a:txBody>
                  <a:tcPr/>
                </a:tc>
                <a:extLst>
                  <a:ext uri="{0D108BD9-81ED-4DB2-BD59-A6C34878D82A}">
                    <a16:rowId xmlns:a16="http://schemas.microsoft.com/office/drawing/2014/main" val="4132264354"/>
                  </a:ext>
                </a:extLst>
              </a:tr>
              <a:tr h="665716">
                <a:tc>
                  <a:txBody>
                    <a:bodyPr/>
                    <a:lstStyle/>
                    <a:p>
                      <a:r>
                        <a:rPr lang="en-US" dirty="0">
                          <a:latin typeface="Times New Roman" panose="02020603050405020304" pitchFamily="18" charset="0"/>
                          <a:cs typeface="Times New Roman" panose="02020603050405020304" pitchFamily="18" charset="0"/>
                        </a:rPr>
                        <a:t>Payment Mode</a:t>
                      </a:r>
                    </a:p>
                  </a:txBody>
                  <a:tcPr/>
                </a:tc>
                <a:tc>
                  <a:txBody>
                    <a:bodyPr/>
                    <a:lstStyle/>
                    <a:p>
                      <a:r>
                        <a:rPr lang="en-US" dirty="0" err="1">
                          <a:latin typeface="Times New Roman" panose="02020603050405020304" pitchFamily="18" charset="0"/>
                          <a:cs typeface="Times New Roman" panose="02020603050405020304" pitchFamily="18" charset="0"/>
                        </a:rPr>
                        <a:t>Card,COD,Online</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65327"/>
                  </a:ext>
                </a:extLst>
              </a:tr>
              <a:tr h="665716">
                <a:tc>
                  <a:txBody>
                    <a:bodyPr/>
                    <a:lstStyle/>
                    <a:p>
                      <a:r>
                        <a:rPr lang="en-US" dirty="0">
                          <a:latin typeface="Times New Roman" panose="02020603050405020304" pitchFamily="18" charset="0"/>
                          <a:cs typeface="Times New Roman" panose="02020603050405020304" pitchFamily="18" charset="0"/>
                        </a:rPr>
                        <a:t>Quantity</a:t>
                      </a:r>
                    </a:p>
                  </a:txBody>
                  <a:tcPr/>
                </a:tc>
                <a:tc>
                  <a:txBody>
                    <a:bodyPr/>
                    <a:lstStyle/>
                    <a:p>
                      <a:r>
                        <a:rPr lang="en-US" dirty="0">
                          <a:latin typeface="Times New Roman" panose="02020603050405020304" pitchFamily="18" charset="0"/>
                          <a:cs typeface="Times New Roman" panose="02020603050405020304" pitchFamily="18" charset="0"/>
                        </a:rPr>
                        <a:t>22k</a:t>
                      </a:r>
                    </a:p>
                  </a:txBody>
                  <a:tcPr/>
                </a:tc>
                <a:extLst>
                  <a:ext uri="{0D108BD9-81ED-4DB2-BD59-A6C34878D82A}">
                    <a16:rowId xmlns:a16="http://schemas.microsoft.com/office/drawing/2014/main" val="207806361"/>
                  </a:ext>
                </a:extLst>
              </a:tr>
              <a:tr h="665716">
                <a:tc>
                  <a:txBody>
                    <a:bodyPr/>
                    <a:lstStyle/>
                    <a:p>
                      <a:r>
                        <a:rPr lang="en-US" dirty="0">
                          <a:latin typeface="Times New Roman" panose="02020603050405020304" pitchFamily="18" charset="0"/>
                          <a:cs typeface="Times New Roman" panose="02020603050405020304" pitchFamily="18" charset="0"/>
                        </a:rPr>
                        <a:t>Profit</a:t>
                      </a:r>
                    </a:p>
                  </a:txBody>
                  <a:tcPr/>
                </a:tc>
                <a:tc>
                  <a:txBody>
                    <a:bodyPr/>
                    <a:lstStyle/>
                    <a:p>
                      <a:r>
                        <a:rPr lang="en-US" dirty="0">
                          <a:latin typeface="Times New Roman" panose="02020603050405020304" pitchFamily="18" charset="0"/>
                          <a:cs typeface="Times New Roman" panose="02020603050405020304" pitchFamily="18" charset="0"/>
                        </a:rPr>
                        <a:t>175.26K</a:t>
                      </a:r>
                    </a:p>
                  </a:txBody>
                  <a:tcPr/>
                </a:tc>
                <a:extLst>
                  <a:ext uri="{0D108BD9-81ED-4DB2-BD59-A6C34878D82A}">
                    <a16:rowId xmlns:a16="http://schemas.microsoft.com/office/drawing/2014/main" val="1792198898"/>
                  </a:ext>
                </a:extLst>
              </a:tr>
              <a:tr h="665716">
                <a:tc>
                  <a:txBody>
                    <a:bodyPr/>
                    <a:lstStyle/>
                    <a:p>
                      <a:r>
                        <a:rPr lang="en-US" dirty="0">
                          <a:latin typeface="Times New Roman" panose="02020603050405020304" pitchFamily="18" charset="0"/>
                          <a:cs typeface="Times New Roman" panose="02020603050405020304" pitchFamily="18" charset="0"/>
                        </a:rPr>
                        <a:t>Category</a:t>
                      </a:r>
                    </a:p>
                  </a:txBody>
                  <a:tcPr/>
                </a:tc>
                <a:tc>
                  <a:txBody>
                    <a:bodyPr/>
                    <a:lstStyle/>
                    <a:p>
                      <a:r>
                        <a:rPr lang="en-US" dirty="0" err="1">
                          <a:latin typeface="Times New Roman" panose="02020603050405020304" pitchFamily="18" charset="0"/>
                          <a:cs typeface="Times New Roman" panose="02020603050405020304" pitchFamily="18" charset="0"/>
                        </a:rPr>
                        <a:t>Office,Tecnology,furniture</a:t>
                      </a:r>
                      <a:r>
                        <a:rPr lang="en-US"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747231815"/>
                  </a:ext>
                </a:extLst>
              </a:tr>
              <a:tr h="665716">
                <a:tc>
                  <a:txBody>
                    <a:bodyPr/>
                    <a:lstStyle/>
                    <a:p>
                      <a:r>
                        <a:rPr lang="en-US" dirty="0">
                          <a:latin typeface="Times New Roman" panose="02020603050405020304" pitchFamily="18" charset="0"/>
                          <a:cs typeface="Times New Roman" panose="02020603050405020304" pitchFamily="18" charset="0"/>
                        </a:rPr>
                        <a:t>Subcategory</a:t>
                      </a:r>
                    </a:p>
                  </a:txBody>
                  <a:tcPr/>
                </a:tc>
                <a:tc>
                  <a:txBody>
                    <a:bodyPr/>
                    <a:lstStyle/>
                    <a:p>
                      <a:r>
                        <a:rPr lang="en-US" dirty="0" err="1">
                          <a:latin typeface="Times New Roman" panose="02020603050405020304" pitchFamily="18" charset="0"/>
                          <a:cs typeface="Times New Roman" panose="02020603050405020304" pitchFamily="18" charset="0"/>
                        </a:rPr>
                        <a:t>Phone,chair,blinder</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147393"/>
                  </a:ext>
                </a:extLst>
              </a:tr>
            </a:tbl>
          </a:graphicData>
        </a:graphic>
      </p:graphicFrame>
    </p:spTree>
    <p:extLst>
      <p:ext uri="{BB962C8B-B14F-4D97-AF65-F5344CB8AC3E}">
        <p14:creationId xmlns:p14="http://schemas.microsoft.com/office/powerpoint/2010/main" val="1599120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4267-11C3-02B8-C51C-F1C40B41B6C7}"/>
              </a:ext>
            </a:extLst>
          </p:cNvPr>
          <p:cNvSpPr>
            <a:spLocks noGrp="1"/>
          </p:cNvSpPr>
          <p:nvPr>
            <p:ph type="title"/>
          </p:nvPr>
        </p:nvSpPr>
        <p:spPr>
          <a:xfrm>
            <a:off x="1203961" y="226907"/>
            <a:ext cx="9590550" cy="829733"/>
          </a:xfrm>
        </p:spPr>
        <p:txBody>
          <a:bodyPr/>
          <a:lstStyle/>
          <a:p>
            <a:r>
              <a:rPr lang="en-US" dirty="0"/>
              <a:t>Analysis Report</a:t>
            </a:r>
          </a:p>
        </p:txBody>
      </p:sp>
      <p:sp>
        <p:nvSpPr>
          <p:cNvPr id="3" name="Text Placeholder 2">
            <a:extLst>
              <a:ext uri="{FF2B5EF4-FFF2-40B4-BE49-F238E27FC236}">
                <a16:creationId xmlns:a16="http://schemas.microsoft.com/office/drawing/2014/main" id="{3113A1B0-7F36-74E2-A442-0846A1A02965}"/>
              </a:ext>
            </a:extLst>
          </p:cNvPr>
          <p:cNvSpPr>
            <a:spLocks noGrp="1"/>
          </p:cNvSpPr>
          <p:nvPr>
            <p:ph type="body" idx="1"/>
          </p:nvPr>
        </p:nvSpPr>
        <p:spPr>
          <a:xfrm>
            <a:off x="375920" y="1209040"/>
            <a:ext cx="11531600" cy="5293360"/>
          </a:xfrm>
        </p:spPr>
        <p:txBody>
          <a:bodyPr>
            <a:normAutofit lnSpcReduction="10000"/>
          </a:bodyPr>
          <a:lstStyle/>
          <a:p>
            <a:pPr algn="just"/>
            <a:r>
              <a:rPr lang="en-US" sz="1800" b="1"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.Regional Sales performance:</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Sales are distributed across East, West, Central and South regions.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Regional performance can be compared using interactive filters.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Some regions contribute significantly higher sales and profit than others. </a:t>
            </a:r>
          </a:p>
          <a:p>
            <a:pPr algn="just"/>
            <a:r>
              <a:rPr lang="en-US" sz="1600" b="1" u="sng" dirty="0">
                <a:latin typeface="Times New Roman" panose="02020603050405020304" pitchFamily="18" charset="0"/>
                <a:cs typeface="Times New Roman" panose="02020603050405020304" pitchFamily="18" charset="0"/>
              </a:rPr>
              <a:t>Stakeholder Insight</a:t>
            </a:r>
          </a:p>
          <a:p>
            <a:pPr algn="just"/>
            <a:r>
              <a:rPr lang="en-US" sz="1600" dirty="0">
                <a:latin typeface="Times New Roman" panose="02020603050405020304" pitchFamily="18" charset="0"/>
                <a:cs typeface="Times New Roman" panose="02020603050405020304" pitchFamily="18" charset="0"/>
              </a:rPr>
              <a:t>Regional analysis helps management identify high-growth markets and allocate resources more effectively.</a:t>
            </a:r>
          </a:p>
          <a:p>
            <a:pPr algn="just"/>
            <a:endParaRPr lang="en-US"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State wise Sales Distribution: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Sales are spread throughout the United States.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Major sales concentration is visible in densely populated states.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Certain states contribute disproportionately to total revenue.</a:t>
            </a:r>
          </a:p>
          <a:p>
            <a:pPr algn="just"/>
            <a:r>
              <a:rPr lang="en-US" sz="1600" b="1" u="sng" dirty="0">
                <a:latin typeface="Times New Roman" panose="02020603050405020304" pitchFamily="18" charset="0"/>
                <a:cs typeface="Times New Roman" panose="02020603050405020304" pitchFamily="18" charset="0"/>
              </a:rPr>
              <a:t>Business Insight</a:t>
            </a:r>
          </a:p>
          <a:p>
            <a:pPr algn="just"/>
            <a:r>
              <a:rPr lang="en-US" sz="1600" dirty="0">
                <a:latin typeface="Times New Roman" panose="02020603050405020304" pitchFamily="18" charset="0"/>
                <a:cs typeface="Times New Roman" panose="02020603050405020304" pitchFamily="18" charset="0"/>
              </a:rPr>
              <a:t>High-performing states should receive additional marketing and inventory investment.</a:t>
            </a:r>
          </a:p>
          <a:p>
            <a:pPr marL="285750" indent="-285750" algn="just">
              <a:buFont typeface="Arial" panose="020B0604020202020204" pitchFamily="34" charset="0"/>
              <a:buChar char="•"/>
            </a:pPr>
            <a:endParaRPr lang="en-US" sz="1600" dirty="0"/>
          </a:p>
          <a:p>
            <a:pPr algn="l"/>
            <a:endParaRPr lang="en-US" sz="1600" dirty="0"/>
          </a:p>
        </p:txBody>
      </p:sp>
    </p:spTree>
    <p:extLst>
      <p:ext uri="{BB962C8B-B14F-4D97-AF65-F5344CB8AC3E}">
        <p14:creationId xmlns:p14="http://schemas.microsoft.com/office/powerpoint/2010/main" val="1223953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0FC86-D905-CCED-2254-CF675C386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E6201-B48C-70A6-F93D-E93912F58C92}"/>
              </a:ext>
            </a:extLst>
          </p:cNvPr>
          <p:cNvSpPr>
            <a:spLocks noGrp="1"/>
          </p:cNvSpPr>
          <p:nvPr>
            <p:ph type="title"/>
          </p:nvPr>
        </p:nvSpPr>
        <p:spPr>
          <a:xfrm flipV="1">
            <a:off x="1203961" y="-314960"/>
            <a:ext cx="9590550" cy="541867"/>
          </a:xfrm>
        </p:spPr>
        <p:txBody>
          <a:bodyPr>
            <a:normAutofit fontScale="90000"/>
          </a:bodyPr>
          <a:lstStyle/>
          <a:p>
            <a:r>
              <a:rPr lang="en-US" dirty="0"/>
              <a:t>.</a:t>
            </a:r>
          </a:p>
        </p:txBody>
      </p:sp>
      <p:sp>
        <p:nvSpPr>
          <p:cNvPr id="3" name="Text Placeholder 2">
            <a:extLst>
              <a:ext uri="{FF2B5EF4-FFF2-40B4-BE49-F238E27FC236}">
                <a16:creationId xmlns:a16="http://schemas.microsoft.com/office/drawing/2014/main" id="{EE7FA56D-7237-29B3-C65F-8511453C138C}"/>
              </a:ext>
            </a:extLst>
          </p:cNvPr>
          <p:cNvSpPr>
            <a:spLocks noGrp="1"/>
          </p:cNvSpPr>
          <p:nvPr>
            <p:ph type="body" idx="1"/>
          </p:nvPr>
        </p:nvSpPr>
        <p:spPr>
          <a:xfrm>
            <a:off x="330200" y="0"/>
            <a:ext cx="11531600" cy="6858000"/>
          </a:xfrm>
        </p:spPr>
        <p:txBody>
          <a:bodyPr>
            <a:normAutofit/>
          </a:bodyPr>
          <a:lstStyle/>
          <a:p>
            <a:pPr algn="just"/>
            <a:r>
              <a:rPr lang="en-US" b="1" dirty="0"/>
              <a:t>3</a:t>
            </a:r>
            <a:r>
              <a:rPr lang="en-US" b="1" dirty="0">
                <a:latin typeface="Times New Roman" panose="02020603050405020304" pitchFamily="18" charset="0"/>
                <a:cs typeface="Times New Roman" panose="02020603050405020304" pitchFamily="18" charset="0"/>
              </a:rPr>
              <a:t>.Category Sales Analysis-: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Office Supplies generates the highest revenue.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Technology closely follows and contributes strong business value.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Furniture contributes substantial revenue but may require profitability monitoring.</a:t>
            </a:r>
          </a:p>
          <a:p>
            <a:pPr algn="l"/>
            <a:r>
              <a:rPr lang="en-US" b="1" dirty="0">
                <a:latin typeface="Times New Roman" panose="02020603050405020304" pitchFamily="18" charset="0"/>
                <a:cs typeface="Times New Roman" panose="02020603050405020304" pitchFamily="18" charset="0"/>
              </a:rPr>
              <a:t>4.Subcategory analysis: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Phones are the highest-selling product segment. </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Chairs contribute significant revenue within Furniture. </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Binders are a key revenue driver within Office Supplies</a:t>
            </a:r>
          </a:p>
          <a:p>
            <a:pPr algn="l"/>
            <a:r>
              <a:rPr lang="en-US" b="1" dirty="0">
                <a:latin typeface="Times New Roman" panose="02020603050405020304" pitchFamily="18" charset="0"/>
                <a:cs typeface="Times New Roman" panose="02020603050405020304" pitchFamily="18" charset="0"/>
              </a:rPr>
              <a:t>5.Customerr Segment Analysis: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Consumer segment contributes nearly half of total sales. </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Corporate customers provide stable revenue streams. </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Home Office represents a smaller but growing market.</a:t>
            </a:r>
          </a:p>
          <a:p>
            <a:pPr algn="l"/>
            <a:r>
              <a:rPr lang="en-US" sz="1800" b="1" dirty="0">
                <a:latin typeface="Times New Roman" panose="02020603050405020304" pitchFamily="18" charset="0"/>
                <a:cs typeface="Times New Roman" panose="02020603050405020304" pitchFamily="18" charset="0"/>
              </a:rPr>
              <a:t>6.</a:t>
            </a:r>
            <a:r>
              <a:rPr lang="en-US" b="1" dirty="0">
                <a:latin typeface="Times New Roman" panose="02020603050405020304" pitchFamily="18" charset="0"/>
                <a:cs typeface="Times New Roman" panose="02020603050405020304" pitchFamily="18" charset="0"/>
              </a:rPr>
              <a:t>Payment Mode Analysis: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Cash on Delivery is the most preferred payment option.</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Online payments show strong adoption. </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Card transactions represent the smallest share.</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0999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2190-2694-CF98-E2D2-46C896677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438FF-D461-4FA9-473F-F1D2D4101B2B}"/>
              </a:ext>
            </a:extLst>
          </p:cNvPr>
          <p:cNvSpPr>
            <a:spLocks noGrp="1"/>
          </p:cNvSpPr>
          <p:nvPr>
            <p:ph type="title"/>
          </p:nvPr>
        </p:nvSpPr>
        <p:spPr>
          <a:xfrm flipV="1">
            <a:off x="1203961" y="-314960"/>
            <a:ext cx="9590550" cy="541867"/>
          </a:xfrm>
        </p:spPr>
        <p:txBody>
          <a:bodyPr>
            <a:normAutofit fontScale="90000"/>
          </a:bodyPr>
          <a:lstStyle/>
          <a:p>
            <a:r>
              <a:rPr lang="en-US" dirty="0"/>
              <a:t>.</a:t>
            </a:r>
          </a:p>
        </p:txBody>
      </p:sp>
      <p:sp>
        <p:nvSpPr>
          <p:cNvPr id="3" name="Text Placeholder 2">
            <a:extLst>
              <a:ext uri="{FF2B5EF4-FFF2-40B4-BE49-F238E27FC236}">
                <a16:creationId xmlns:a16="http://schemas.microsoft.com/office/drawing/2014/main" id="{64239439-9843-DC0E-B9A5-699410F445F3}"/>
              </a:ext>
            </a:extLst>
          </p:cNvPr>
          <p:cNvSpPr>
            <a:spLocks noGrp="1"/>
          </p:cNvSpPr>
          <p:nvPr>
            <p:ph type="body" idx="1"/>
          </p:nvPr>
        </p:nvSpPr>
        <p:spPr>
          <a:xfrm>
            <a:off x="330200" y="0"/>
            <a:ext cx="11531600" cy="6858000"/>
          </a:xfrm>
        </p:spPr>
        <p:txBody>
          <a:bodyPr>
            <a:normAutofit/>
          </a:bodyPr>
          <a:lstStyle/>
          <a:p>
            <a:pPr algn="just"/>
            <a:r>
              <a:rPr lang="en-US" sz="1800" b="1" dirty="0">
                <a:latin typeface="Times New Roman" panose="02020603050405020304" pitchFamily="18" charset="0"/>
                <a:cs typeface="Times New Roman" panose="02020603050405020304" pitchFamily="18" charset="0"/>
              </a:rPr>
              <a:t>7.</a:t>
            </a:r>
            <a:r>
              <a:rPr lang="en-US" b="1" dirty="0">
                <a:latin typeface="Times New Roman" panose="02020603050405020304" pitchFamily="18" charset="0"/>
                <a:cs typeface="Times New Roman" panose="02020603050405020304" pitchFamily="18" charset="0"/>
              </a:rPr>
              <a:t>Geographic analysis: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Sales are distributed nationwide across the United States.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Higher concentration of sales is observed in major commercial states.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Regional demand is not evenly distributed</a:t>
            </a:r>
          </a:p>
          <a:p>
            <a:pPr algn="just"/>
            <a:r>
              <a:rPr lang="en-US" sz="1800" b="1" dirty="0">
                <a:latin typeface="Times New Roman" panose="02020603050405020304" pitchFamily="18" charset="0"/>
                <a:cs typeface="Times New Roman" panose="02020603050405020304" pitchFamily="18" charset="0"/>
              </a:rPr>
              <a:t>8.</a:t>
            </a:r>
            <a:r>
              <a:rPr lang="en-US" b="1" dirty="0">
                <a:latin typeface="Times New Roman" panose="02020603050405020304" pitchFamily="18" charset="0"/>
                <a:cs typeface="Times New Roman" panose="02020603050405020304" pitchFamily="18" charset="0"/>
              </a:rPr>
              <a:t>Sales trend analysis: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Sales increased significantly from 2019 to 2020.</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Strong growth observed in the second half of the year.</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Q4 generated the highest sales performance</a:t>
            </a:r>
          </a:p>
          <a:p>
            <a:pPr algn="just"/>
            <a:r>
              <a:rPr lang="en-US" sz="1800" b="1" dirty="0">
                <a:latin typeface="Times New Roman" panose="02020603050405020304" pitchFamily="18" charset="0"/>
                <a:cs typeface="Times New Roman" panose="02020603050405020304" pitchFamily="18" charset="0"/>
              </a:rPr>
              <a:t>9.Profit trend analysis: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Profit shows an upward trend despite monthly fluctuations.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Year-end profitability is substantially higher than beginning of year.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Business growth is translating into profit growth</a:t>
            </a:r>
          </a:p>
          <a:p>
            <a:pPr algn="just"/>
            <a:endParaRPr lang="en-US" sz="1600" b="1" dirty="0"/>
          </a:p>
        </p:txBody>
      </p:sp>
    </p:spTree>
    <p:extLst>
      <p:ext uri="{BB962C8B-B14F-4D97-AF65-F5344CB8AC3E}">
        <p14:creationId xmlns:p14="http://schemas.microsoft.com/office/powerpoint/2010/main" val="397247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4DD0-F153-3402-F3C1-12F6040401E9}"/>
              </a:ext>
            </a:extLst>
          </p:cNvPr>
          <p:cNvSpPr>
            <a:spLocks noGrp="1"/>
          </p:cNvSpPr>
          <p:nvPr>
            <p:ph type="title"/>
          </p:nvPr>
        </p:nvSpPr>
        <p:spPr>
          <a:xfrm>
            <a:off x="1208315" y="155430"/>
            <a:ext cx="9590550" cy="764419"/>
          </a:xfrm>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936A05A8-7B80-5908-3A42-C3243430572B}"/>
              </a:ext>
            </a:extLst>
          </p:cNvPr>
          <p:cNvSpPr>
            <a:spLocks noGrp="1"/>
          </p:cNvSpPr>
          <p:nvPr>
            <p:ph type="body" idx="1"/>
          </p:nvPr>
        </p:nvSpPr>
        <p:spPr>
          <a:xfrm>
            <a:off x="195943" y="1191991"/>
            <a:ext cx="11887200" cy="5382979"/>
          </a:xfrm>
        </p:spPr>
        <p:txBody>
          <a:bodyPr>
            <a:normAutofit fontScale="85000" lnSpcReduction="20000"/>
          </a:bodyPr>
          <a:lstStyle/>
          <a:p>
            <a:pPr algn="just"/>
            <a:r>
              <a:rPr lang="en-US" sz="2100" dirty="0">
                <a:latin typeface="Times New Roman" panose="02020603050405020304" pitchFamily="18" charset="0"/>
                <a:cs typeface="Times New Roman" panose="02020603050405020304" pitchFamily="18" charset="0"/>
              </a:rPr>
              <a:t>The Supermarket Sales Analytics Dashboard provides a comprehensive view of business performance by analyzing sales, profit, customer behavior, product performance, shipping preferences, payment methods, and regional trends. The business generated $1.57 million in total sales, 22,000 units sold, and $175.26K in profit, demonstrating strong overall performance and sustainable growth. Analysis revealed that the Consumer segment contributed the highest sales ($753K</a:t>
            </a:r>
            <a:r>
              <a:rPr lang="en-US" sz="2100" b="1" dirty="0">
                <a:latin typeface="Times New Roman" panose="02020603050405020304" pitchFamily="18" charset="0"/>
                <a:cs typeface="Times New Roman" panose="02020603050405020304" pitchFamily="18" charset="0"/>
              </a:rPr>
              <a:t>)</a:t>
            </a:r>
            <a:r>
              <a:rPr lang="en-US" sz="2100" dirty="0">
                <a:latin typeface="Times New Roman" panose="02020603050405020304" pitchFamily="18" charset="0"/>
                <a:cs typeface="Times New Roman" panose="02020603050405020304" pitchFamily="18" charset="0"/>
              </a:rPr>
              <a:t>, making it the most valuable customer group, while Office Supplies ($0.64M) emerged as the leading product category, followed by Technology and Furniture. At the product level, Phones ($0.20M), Chairs ($0.18M), and Binders ($0.17M) were the top revenue-generating subcategories, indicating strong customer demand for these products.</a:t>
            </a:r>
          </a:p>
          <a:p>
            <a:pPr algn="just"/>
            <a:r>
              <a:rPr lang="en-US" sz="2100" dirty="0">
                <a:latin typeface="Times New Roman" panose="02020603050405020304" pitchFamily="18" charset="0"/>
                <a:cs typeface="Times New Roman" panose="02020603050405020304" pitchFamily="18" charset="0"/>
              </a:rPr>
              <a:t>Customer purchasing behavior showed a clear preference for Cash on Delivery ($667K), followed by Online Payments ($554K), while Standard Class shipping ($0.33M) was the most frequently used delivery method, highlighting customers' preference for cost-effective shipping options. Geographic analysis demonstrated a broad sales presence across the United States, with certain states and regions contributing significantly more revenue than others, creating opportunities for targeted expansion and marketing strategies. Furthermore, sales and profit trends showed consistent growth from 2019 to 2020, particularly during the latter months of the year, indicating increasing market demand and positive business momentum.</a:t>
            </a:r>
          </a:p>
          <a:p>
            <a:pPr algn="just"/>
            <a:r>
              <a:rPr lang="en-US" sz="2100" dirty="0">
                <a:latin typeface="Times New Roman" panose="02020603050405020304" pitchFamily="18" charset="0"/>
                <a:cs typeface="Times New Roman" panose="02020603050405020304" pitchFamily="18" charset="0"/>
              </a:rPr>
              <a:t>Overall, the analysis highlights that business growth is primarily driven by the Consumer segment, high-performing product categories, and top-selling subcategories. To further improve performance, management should focus on expanding profitable product lines, strengthening customer retention initiatives, optimizing inventory for high-demand products, encouraging digital payment adoption, and implementing region-specific growth strategies. By leveraging these insights, the organization can enhance profitability, improve operational efficiency, maximize customer value, and support long-term data-driven business growth</a:t>
            </a:r>
          </a:p>
          <a:p>
            <a:pPr algn="just"/>
            <a:endParaRPr lang="en-US" dirty="0"/>
          </a:p>
        </p:txBody>
      </p:sp>
    </p:spTree>
    <p:extLst>
      <p:ext uri="{BB962C8B-B14F-4D97-AF65-F5344CB8AC3E}">
        <p14:creationId xmlns:p14="http://schemas.microsoft.com/office/powerpoint/2010/main" val="2396685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16c05727-aa75-4e4a-9b5f-8a80a1165891"/>
    <ds:schemaRef ds:uri="http://purl.org/dc/dcmitype/"/>
    <ds:schemaRef ds:uri="http://schemas.microsoft.com/office/2006/documentManagement/types"/>
    <ds:schemaRef ds:uri="http://schemas.microsoft.com/office/2006/metadata/properties"/>
    <ds:schemaRef ds:uri="http://schemas.microsoft.com/office/infopath/2007/PartnerControls"/>
    <ds:schemaRef ds:uri="71af3243-3dd4-4a8d-8c0d-dd76da1f02a5"/>
    <ds:schemaRef ds:uri="http://purl.org/dc/elements/1.1/"/>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{BF2783CD-6ABA-40A3-BEF3-676D8C3B4016}TFe742eee6-54b3-45e8-a03d-f3d997f9b6caf6c338c2_win32-3734725ae7e2</Template>
  <TotalTime>1291</TotalTime>
  <Words>832</Words>
  <Application>Microsoft Office PowerPoint</Application>
  <PresentationFormat>Widescreen</PresentationFormat>
  <Paragraphs>87</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Goudy Old Style</vt:lpstr>
      <vt:lpstr>Times New Roman</vt:lpstr>
      <vt:lpstr>Wingdings 2</vt:lpstr>
      <vt:lpstr>SlateVTI</vt:lpstr>
      <vt:lpstr>Super Mart Sales Report </vt:lpstr>
      <vt:lpstr> Business Objective</vt:lpstr>
      <vt:lpstr>Dataset Overview</vt:lpstr>
      <vt:lpstr>KPI Overview</vt:lpstr>
      <vt:lpstr>Analysis Report</vt:lpstr>
      <vt:lpstr>.</vt:lpstr>
      <vt:lpst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chandane</dc:creator>
  <cp:lastModifiedBy>sahil chandane</cp:lastModifiedBy>
  <cp:revision>2</cp:revision>
  <dcterms:created xsi:type="dcterms:W3CDTF">2026-06-17T17:01:54Z</dcterms:created>
  <dcterms:modified xsi:type="dcterms:W3CDTF">2026-06-23T08:54:23Z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